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9144000" cx="51435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16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162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ab109ef7d_6_75:notes"/>
          <p:cNvSpPr/>
          <p:nvPr>
            <p:ph idx="2" type="sldImg"/>
          </p:nvPr>
        </p:nvSpPr>
        <p:spPr>
          <a:xfrm>
            <a:off x="408088" y="0"/>
            <a:ext cx="21837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fab109ef7d_6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WEEKLIES — Meal planning with a weekly budget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**CSC 510 · Project 1b · Proposed next version**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**Group:** [GROUP NUMBER]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**Members:** [ALL CURRENT GROUP MEMBERS]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 Mission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meals every day takes time, and a convenient plan can still exceed your budget or become outdated when menus change. We propose extending Weeklies into a budget-aware meal planner that lets customers set a weekly spending limit, understand why meals were selected, and replace individual meals without rebuilding their calendar. Restaurant owners and kitchen staff will gain clearer order updates and a view of upcoming demand. The result: less daily planning, more control over spending, and better coordination from meal selection to fulfillment.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 Who benefits?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**Customers, including busy students:** plan around time, spending limits, and declared dietary preferences.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**Restaurant owners:** see upcoming demand and manage fulfillment.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**Kitchen staff:** follow an explicit preparation queue.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**Maintainers:** extend behavior backed by reproducible use-case tests.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 Our next version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**Weekly spending limits** Show estimated menu-item spending against a weekly limit; explain when no suitable plan fits. Label taxes and fees separately where applicable.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**Individual meal replacement** Swap a single calendar entry using current availability and declared allergen filters while retaining the remaining plan.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**Order progress timeline** Present an order timeline with recorded transitions and refresh it as the restaurant progresses through fulfillment.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*These are proposed improvements, not claims of completed implementation.*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 Before · Project 1a baseline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**Map real user goals.** Existing evidence: 28 documented use cases spanning accounts, planning, ordering, receipts, reviews, and analytics. Method: trace implemented routes and record success and exception paths in `use-cases.md`.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**Establish regression evidence.** Existing evidence: 172 test functions across 28 Project 1a test modules. Method: use Flask test clients and a temporary SQLite database; attach the actual run summary before submission. These are source counts, not passing-test counts.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**Understand planning limits.** Existing behavior: generation considers preferences, declared allergies, restaurant hours, and stock, and retains already planned slots. Method: trace UC06–UC07 and their corresponding tests to identify extension points.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 Now · Project 2 proposed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**Budget-aware generation.** Add a weekly limit and estimated menu-item total; filter and rank candidates under the cap. Verify exact-limit, impossible-budget, and empty-candidate cases.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**Single-meal swaps.** Add a replace action for one date/meal slot; revalidate item availability and declared allergens server-side, then save only that slot. Verify unrelated entries remain unchanged.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**Visible order progress.** Store transition timestamps and render a customer timeline with periodic refresh. Verify restaurant ownership, legal transitions, and terminal states.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 Future · Project 3 candidate 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**Reusable weekly templates.** Save a week as a template; revalidate prices, hours, and availability before copying it to new dates. Require review before creating any orders.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**Explainable suggestions.** Show factual selection reasons derived from preferences, prices, and availability checks; handle missing metadata and model fallback explicitly.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**Restaurant demand preview.** Aggregate saved meal selections by restaurant, date, and meal period. Distinguish tentative plans from placed orders and keep customer identities out of the summary.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 Evidence and system views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**28 documented use cases · 28 Project 1a test modules · 172 test functions**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counts checked locally. Test execution, pass/fail totals, and coverage remain to be verified.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[INSERT ACTUAL SCREENSHOT: existing customer meal calendar, showing generated entries.]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[INSERT ACTUAL SCREENSHOT: existing restaurant order dashboard, showing fulfillment controls.]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[INSERT ACTUAL TEST-RUN CAPTURE: Project 1a suite summary with date and commit.]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 Proposed stack — extend the existing foundation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**Python + Flask:** add planning and fulfillment routes to the existing application.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**SQLite:** persist budget settings, selected meals, and order-transition history.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**HTML / CSS / JavaScript:** extend the calendar and refresh the order timeline.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**LLM toolkit + deterministic fallback:** rank eligible meal candidates; enforce constraints in application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**pytest + GitHub Actions:** check regressions as features evolve.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recognizable technology icons beside these labels in the final layout. The HTML draft uses labeled symbol badges as layout stand-ins.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 Explore the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**Repository:** https://github.com/rdpatel2/Weeklies — derived from this checkout's origin. [INSERT QR ENCODING THIS EXACT URL.]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**Discussion forum:** [FORUM URL] — give CSC 510 tutors and lecturers access. [INSERT MATCHING QR.]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**Feature walkthrough, 2–5 minutes:** [VIDEO URL]. [INSERT MATCHING QR.]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 each complete URL directly underneath its QR code.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## Finalization notes — not poster copy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`poster.html` is the compact, editable, US-letter layout. Open it in a browser and print to PDF at 100% scale, with browser headers/footers off and background graphics on. Confirm it exports as one page.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Replace the current group number and member placeholders. The root README credits a Fall 2025 team, so those names were not assumed to be the current group.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Confirm the proposed scope with the team. Before milestones describe artifacts and existing behavior found in this checkout; confirm which work belongs to your Project 1a submission.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Add real screenshots, the verified Project 1a test-run evidence, official stack icons, and three functioning QR codes with their matching URLs. The draft intentionally contains no fabricated screenshots or QR codes.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Confirm the repository destination, forum permissions, and walkthrough duration. The README's older demo videos were not assumed to be the current submission.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Replace source test-function counts with a clearly labeled executed/passed result only after running the suite. Parameterization can make collected-test counts differ from function counts.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Local sources: `poster.md` (requirements), `use-cases.md` (baseline behavior), `proj2/sef26tests/` (test inventory), and `README.md` (project overview and stack).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ab109ef7d_6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75336" y="1323689"/>
            <a:ext cx="47928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75331" y="5038444"/>
            <a:ext cx="47928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75331" y="3823733"/>
            <a:ext cx="47928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75331" y="791156"/>
            <a:ext cx="47928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75331" y="2048844"/>
            <a:ext cx="47928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75331" y="791156"/>
            <a:ext cx="47928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75331" y="2048844"/>
            <a:ext cx="225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2718225" y="2048844"/>
            <a:ext cx="225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75331" y="791156"/>
            <a:ext cx="47928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75331" y="987733"/>
            <a:ext cx="15795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75331" y="2470400"/>
            <a:ext cx="15795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75766" y="800267"/>
            <a:ext cx="35820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571750" y="-222"/>
            <a:ext cx="25719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49344" y="2192311"/>
            <a:ext cx="22755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49344" y="4983244"/>
            <a:ext cx="22755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778469" y="1287244"/>
            <a:ext cx="21582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75331" y="7521022"/>
            <a:ext cx="33744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75331" y="1966444"/>
            <a:ext cx="47928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75331" y="5603956"/>
            <a:ext cx="47928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453838" y="1936750"/>
            <a:ext cx="5143500" cy="13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907676" y="3532909"/>
            <a:ext cx="42357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02559" y="249671"/>
            <a:ext cx="54462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02559" y="1454727"/>
            <a:ext cx="5446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78001" y="4006273"/>
            <a:ext cx="51435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78001" y="2642466"/>
            <a:ext cx="5143500" cy="1363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000" lIns="68050" spcFirstLastPara="1" rIns="68050" wrap="square" tIns="340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300"/>
              <a:buNone/>
              <a:defRPr sz="13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02559" y="249671"/>
            <a:ext cx="54462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02559" y="1454727"/>
            <a:ext cx="2672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076015" y="1454727"/>
            <a:ext cx="26727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 sz="1300"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 sz="1300"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02559" y="249671"/>
            <a:ext cx="54462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02559" y="1395557"/>
            <a:ext cx="2673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000" lIns="68050" spcFirstLastPara="1" rIns="68050" wrap="square" tIns="340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02559" y="1977159"/>
            <a:ext cx="2673600" cy="3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073914" y="1395557"/>
            <a:ext cx="2674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000" lIns="68050" spcFirstLastPara="1" rIns="68050" wrap="square" tIns="340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1" sz="13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073914" y="1977159"/>
            <a:ext cx="2674800" cy="3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 sz="13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02559" y="249671"/>
            <a:ext cx="54462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02559" y="248227"/>
            <a:ext cx="19908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000" lIns="68050" spcFirstLastPara="1" rIns="68050" wrap="square" tIns="34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365842" y="248227"/>
            <a:ext cx="3382800" cy="53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02559" y="1304636"/>
            <a:ext cx="1990800" cy="4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186073" y="4364182"/>
            <a:ext cx="3630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000" lIns="68050" spcFirstLastPara="1" rIns="68050" wrap="square" tIns="340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186073" y="557068"/>
            <a:ext cx="3630600" cy="37407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186073" y="4879398"/>
            <a:ext cx="36306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02559" y="249671"/>
            <a:ext cx="54462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968268" y="788877"/>
            <a:ext cx="4114500" cy="54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408118" y="2228771"/>
            <a:ext cx="5319600" cy="13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-365400" y="917621"/>
            <a:ext cx="5319600" cy="39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2pPr>
            <a:lvl3pPr indent="-3111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indent="-3111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–"/>
              <a:defRPr/>
            </a:lvl4pPr>
            <a:lvl5pPr indent="-3111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»"/>
              <a:defRPr/>
            </a:lvl5pPr>
            <a:lvl6pPr indent="-3111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indent="-3111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indent="-3111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indent="-3111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75331" y="791156"/>
            <a:ext cx="47928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75331" y="2048844"/>
            <a:ext cx="47928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765758" y="8290163"/>
            <a:ext cx="3087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2559" y="249671"/>
            <a:ext cx="5446200" cy="10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3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02559" y="1454727"/>
            <a:ext cx="5446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000" lIns="68050" spcFirstLastPara="1" rIns="68050" wrap="square" tIns="34000">
            <a:norm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02559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067485" y="5778500"/>
            <a:ext cx="19161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0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336676" y="5778500"/>
            <a:ext cx="14118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rdpatel2/Weeklies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151279" y="207818"/>
            <a:ext cx="4840800" cy="3450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51279" y="357909"/>
            <a:ext cx="453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CSC 510  /  PROJECT 1b  /  PROPOSAL</a:t>
            </a:r>
            <a:endParaRPr sz="1000"/>
          </a:p>
        </p:txBody>
      </p:sp>
      <p:sp>
        <p:nvSpPr>
          <p:cNvPr id="132" name="Google Shape;132;p25"/>
          <p:cNvSpPr txBox="1"/>
          <p:nvPr/>
        </p:nvSpPr>
        <p:spPr>
          <a:xfrm>
            <a:off x="151279" y="565727"/>
            <a:ext cx="445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 u="none" cap="none" strike="noStrik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Weeklies</a:t>
            </a:r>
            <a:endParaRPr sz="1000"/>
          </a:p>
        </p:txBody>
      </p:sp>
      <p:sp>
        <p:nvSpPr>
          <p:cNvPr id="133" name="Google Shape;133;p25"/>
          <p:cNvSpPr txBox="1"/>
          <p:nvPr/>
        </p:nvSpPr>
        <p:spPr>
          <a:xfrm>
            <a:off x="151279" y="1085273"/>
            <a:ext cx="4454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</a:rPr>
              <a:t>Your meals. Your schedule. Your budget.</a:t>
            </a:r>
            <a:endParaRPr sz="1000"/>
          </a:p>
        </p:txBody>
      </p:sp>
      <p:sp>
        <p:nvSpPr>
          <p:cNvPr id="134" name="Google Shape;134;p25"/>
          <p:cNvSpPr txBox="1"/>
          <p:nvPr/>
        </p:nvSpPr>
        <p:spPr>
          <a:xfrm>
            <a:off x="151279" y="1397000"/>
            <a:ext cx="4454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Group </a:t>
            </a:r>
            <a:r>
              <a:rPr lang="en" sz="500">
                <a:solidFill>
                  <a:srgbClr val="555555"/>
                </a:solidFill>
              </a:rPr>
              <a:t>11</a:t>
            </a:r>
            <a:r>
              <a:rPr b="0" i="0" lang="en" sz="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  |   </a:t>
            </a:r>
            <a:r>
              <a:rPr lang="en" sz="500">
                <a:solidFill>
                  <a:srgbClr val="555555"/>
                </a:solidFill>
              </a:rPr>
              <a:t>Srikar Desemsetti, Rohan Patel, Alex Tanton, Kushal Upretti</a:t>
            </a:r>
            <a:r>
              <a:rPr b="0" i="0" lang="en" sz="5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000"/>
          </a:p>
        </p:txBody>
      </p:sp>
      <p:sp>
        <p:nvSpPr>
          <p:cNvPr id="135" name="Google Shape;135;p25"/>
          <p:cNvSpPr/>
          <p:nvPr/>
        </p:nvSpPr>
        <p:spPr>
          <a:xfrm>
            <a:off x="151279" y="1593273"/>
            <a:ext cx="4840800" cy="69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151279" y="1631228"/>
            <a:ext cx="4840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sz="1000"/>
          </a:p>
        </p:txBody>
      </p:sp>
      <p:sp>
        <p:nvSpPr>
          <p:cNvPr id="137" name="Google Shape;137;p25"/>
          <p:cNvSpPr txBox="1"/>
          <p:nvPr/>
        </p:nvSpPr>
        <p:spPr>
          <a:xfrm>
            <a:off x="151279" y="1766310"/>
            <a:ext cx="4840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Choosing meals every day takes time, and </a:t>
            </a:r>
            <a:r>
              <a:rPr lang="en" sz="500">
                <a:solidFill>
                  <a:srgbClr val="222222"/>
                </a:solidFill>
              </a:rPr>
              <a:t>more often than not a weekly plan can be costly and get old quick</a:t>
            </a: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. We propose extending Weeklies into a budget-aware meal planner that lets customers set a weekly limit, understand selections, and replace meals without rebuilding their calendar. Restaurant owners and kitchen staff gain clearer order updates and a view of upcoming demand: less daily planning, more spending control, and better coordination.</a:t>
            </a:r>
            <a:endParaRPr sz="1000"/>
          </a:p>
        </p:txBody>
      </p:sp>
      <p:sp>
        <p:nvSpPr>
          <p:cNvPr id="138" name="Google Shape;138;p25"/>
          <p:cNvSpPr/>
          <p:nvPr/>
        </p:nvSpPr>
        <p:spPr>
          <a:xfrm>
            <a:off x="151279" y="2077971"/>
            <a:ext cx="8400" cy="381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210110" y="2077971"/>
            <a:ext cx="10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Customers</a:t>
            </a:r>
            <a:endParaRPr sz="1000"/>
          </a:p>
        </p:txBody>
      </p:sp>
      <p:sp>
        <p:nvSpPr>
          <p:cNvPr id="140" name="Google Shape;140;p25"/>
          <p:cNvSpPr txBox="1"/>
          <p:nvPr/>
        </p:nvSpPr>
        <p:spPr>
          <a:xfrm>
            <a:off x="210110" y="2228062"/>
            <a:ext cx="1092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Busy </a:t>
            </a:r>
            <a:r>
              <a:rPr lang="en" sz="500">
                <a:solidFill>
                  <a:srgbClr val="222222"/>
                </a:solidFill>
              </a:rPr>
              <a:t>people who need to</a:t>
            </a: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balance time, cost, and preferences.</a:t>
            </a:r>
            <a:endParaRPr sz="1000"/>
          </a:p>
        </p:txBody>
      </p:sp>
      <p:sp>
        <p:nvSpPr>
          <p:cNvPr id="141" name="Google Shape;141;p25"/>
          <p:cNvSpPr/>
          <p:nvPr/>
        </p:nvSpPr>
        <p:spPr>
          <a:xfrm>
            <a:off x="1378324" y="2077971"/>
            <a:ext cx="8400" cy="381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5"/>
          <p:cNvSpPr txBox="1"/>
          <p:nvPr/>
        </p:nvSpPr>
        <p:spPr>
          <a:xfrm>
            <a:off x="1437154" y="2077971"/>
            <a:ext cx="10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Restaurant owners</a:t>
            </a:r>
            <a:endParaRPr sz="1000"/>
          </a:p>
        </p:txBody>
      </p:sp>
      <p:sp>
        <p:nvSpPr>
          <p:cNvPr id="143" name="Google Shape;143;p25"/>
          <p:cNvSpPr txBox="1"/>
          <p:nvPr/>
        </p:nvSpPr>
        <p:spPr>
          <a:xfrm>
            <a:off x="1437154" y="2228062"/>
            <a:ext cx="1092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See upcoming demand and manage fulfillment.</a:t>
            </a:r>
            <a:endParaRPr sz="1000"/>
          </a:p>
        </p:txBody>
      </p:sp>
      <p:sp>
        <p:nvSpPr>
          <p:cNvPr id="144" name="Google Shape;144;p25"/>
          <p:cNvSpPr/>
          <p:nvPr/>
        </p:nvSpPr>
        <p:spPr>
          <a:xfrm>
            <a:off x="2605368" y="2077971"/>
            <a:ext cx="8400" cy="381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5"/>
          <p:cNvSpPr txBox="1"/>
          <p:nvPr/>
        </p:nvSpPr>
        <p:spPr>
          <a:xfrm>
            <a:off x="2664199" y="2077971"/>
            <a:ext cx="10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Kitchen staff</a:t>
            </a:r>
            <a:endParaRPr sz="1000"/>
          </a:p>
        </p:txBody>
      </p:sp>
      <p:sp>
        <p:nvSpPr>
          <p:cNvPr id="146" name="Google Shape;146;p25"/>
          <p:cNvSpPr txBox="1"/>
          <p:nvPr/>
        </p:nvSpPr>
        <p:spPr>
          <a:xfrm>
            <a:off x="2664199" y="2228062"/>
            <a:ext cx="10926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Follow an explicit preparation queue.</a:t>
            </a:r>
            <a:endParaRPr sz="1000"/>
          </a:p>
        </p:txBody>
      </p:sp>
      <p:sp>
        <p:nvSpPr>
          <p:cNvPr id="147" name="Google Shape;147;p25"/>
          <p:cNvSpPr/>
          <p:nvPr/>
        </p:nvSpPr>
        <p:spPr>
          <a:xfrm>
            <a:off x="3832412" y="2077971"/>
            <a:ext cx="8400" cy="381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 txBox="1"/>
          <p:nvPr/>
        </p:nvSpPr>
        <p:spPr>
          <a:xfrm>
            <a:off x="3891243" y="2077971"/>
            <a:ext cx="109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Maintainers</a:t>
            </a:r>
            <a:endParaRPr sz="1000"/>
          </a:p>
        </p:txBody>
      </p:sp>
      <p:sp>
        <p:nvSpPr>
          <p:cNvPr id="149" name="Google Shape;149;p25"/>
          <p:cNvSpPr txBox="1"/>
          <p:nvPr/>
        </p:nvSpPr>
        <p:spPr>
          <a:xfrm>
            <a:off x="3891243" y="2228062"/>
            <a:ext cx="10926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Build on reproducible use-case tests.</a:t>
            </a:r>
            <a:endParaRPr sz="1000"/>
          </a:p>
        </p:txBody>
      </p:sp>
      <p:sp>
        <p:nvSpPr>
          <p:cNvPr id="150" name="Google Shape;150;p25"/>
          <p:cNvSpPr/>
          <p:nvPr/>
        </p:nvSpPr>
        <p:spPr>
          <a:xfrm>
            <a:off x="151279" y="2585971"/>
            <a:ext cx="1563300" cy="1140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218515" y="2678334"/>
            <a:ext cx="1428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sz="1000"/>
          </a:p>
        </p:txBody>
      </p:sp>
      <p:sp>
        <p:nvSpPr>
          <p:cNvPr id="152" name="Google Shape;152;p25"/>
          <p:cNvSpPr txBox="1"/>
          <p:nvPr/>
        </p:nvSpPr>
        <p:spPr>
          <a:xfrm>
            <a:off x="218515" y="2839971"/>
            <a:ext cx="1428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Weekly spending limits</a:t>
            </a:r>
            <a:endParaRPr sz="1000"/>
          </a:p>
        </p:txBody>
      </p:sp>
      <p:sp>
        <p:nvSpPr>
          <p:cNvPr id="153" name="Google Shape;153;p25"/>
          <p:cNvSpPr txBox="1"/>
          <p:nvPr/>
        </p:nvSpPr>
        <p:spPr>
          <a:xfrm>
            <a:off x="218515" y="3013153"/>
            <a:ext cx="1428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222222"/>
                </a:solidFill>
              </a:rPr>
              <a:t>Compare meal prices across vendors and allocate a weekly budget for meals. </a:t>
            </a:r>
            <a:endParaRPr sz="500">
              <a:solidFill>
                <a:srgbClr val="222222"/>
              </a:solidFill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1790140" y="2585971"/>
            <a:ext cx="1563300" cy="1140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1857375" y="2678334"/>
            <a:ext cx="1428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MEAL SELECTION</a:t>
            </a:r>
            <a:endParaRPr sz="1000"/>
          </a:p>
        </p:txBody>
      </p:sp>
      <p:sp>
        <p:nvSpPr>
          <p:cNvPr id="156" name="Google Shape;156;p25"/>
          <p:cNvSpPr txBox="1"/>
          <p:nvPr/>
        </p:nvSpPr>
        <p:spPr>
          <a:xfrm>
            <a:off x="1857375" y="2839971"/>
            <a:ext cx="1428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Individual meal replacement</a:t>
            </a:r>
            <a:endParaRPr sz="1000"/>
          </a:p>
        </p:txBody>
      </p:sp>
      <p:sp>
        <p:nvSpPr>
          <p:cNvPr id="157" name="Google Shape;157;p25"/>
          <p:cNvSpPr txBox="1"/>
          <p:nvPr/>
        </p:nvSpPr>
        <p:spPr>
          <a:xfrm>
            <a:off x="1857375" y="3013153"/>
            <a:ext cx="1428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222222"/>
                </a:solidFill>
              </a:rPr>
              <a:t>Swap a single calendar entry for the week without ruining future plans.</a:t>
            </a:r>
            <a:endParaRPr sz="1000"/>
          </a:p>
        </p:txBody>
      </p:sp>
      <p:sp>
        <p:nvSpPr>
          <p:cNvPr id="158" name="Google Shape;158;p25"/>
          <p:cNvSpPr/>
          <p:nvPr/>
        </p:nvSpPr>
        <p:spPr>
          <a:xfrm>
            <a:off x="3429000" y="2585971"/>
            <a:ext cx="1563300" cy="1140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3496235" y="2678334"/>
            <a:ext cx="14289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A52A2A"/>
                </a:solidFill>
                <a:latin typeface="Arial"/>
                <a:ea typeface="Arial"/>
                <a:cs typeface="Arial"/>
                <a:sym typeface="Arial"/>
              </a:rPr>
              <a:t>ORDER STATUS</a:t>
            </a:r>
            <a:endParaRPr sz="1000"/>
          </a:p>
        </p:txBody>
      </p:sp>
      <p:sp>
        <p:nvSpPr>
          <p:cNvPr id="160" name="Google Shape;160;p25"/>
          <p:cNvSpPr txBox="1"/>
          <p:nvPr/>
        </p:nvSpPr>
        <p:spPr>
          <a:xfrm>
            <a:off x="3496235" y="2839971"/>
            <a:ext cx="1428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Order progress timeline</a:t>
            </a:r>
            <a:endParaRPr sz="1000"/>
          </a:p>
        </p:txBody>
      </p:sp>
      <p:sp>
        <p:nvSpPr>
          <p:cNvPr id="161" name="Google Shape;161;p25"/>
          <p:cNvSpPr txBox="1"/>
          <p:nvPr/>
        </p:nvSpPr>
        <p:spPr>
          <a:xfrm>
            <a:off x="3496235" y="3013153"/>
            <a:ext cx="14289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See recorded order transitions on a timeline that refreshes as the restaurant progresses through fulfillment.</a:t>
            </a:r>
            <a:endParaRPr sz="1000"/>
          </a:p>
        </p:txBody>
      </p:sp>
      <p:sp>
        <p:nvSpPr>
          <p:cNvPr id="162" name="Google Shape;162;p25"/>
          <p:cNvSpPr txBox="1"/>
          <p:nvPr/>
        </p:nvSpPr>
        <p:spPr>
          <a:xfrm>
            <a:off x="151279" y="3532698"/>
            <a:ext cx="2857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DEVELOPMENT PLAN</a:t>
            </a:r>
            <a:endParaRPr sz="1000"/>
          </a:p>
        </p:txBody>
      </p:sp>
      <p:sp>
        <p:nvSpPr>
          <p:cNvPr id="163" name="Google Shape;163;p25"/>
          <p:cNvSpPr txBox="1"/>
          <p:nvPr/>
        </p:nvSpPr>
        <p:spPr>
          <a:xfrm>
            <a:off x="3235699" y="3555789"/>
            <a:ext cx="1756500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Proposed scope · goals paired with methods</a:t>
            </a:r>
            <a:endParaRPr sz="1000"/>
          </a:p>
        </p:txBody>
      </p:sp>
      <p:sp>
        <p:nvSpPr>
          <p:cNvPr id="164" name="Google Shape;164;p25"/>
          <p:cNvSpPr/>
          <p:nvPr/>
        </p:nvSpPr>
        <p:spPr>
          <a:xfrm>
            <a:off x="151279" y="3740516"/>
            <a:ext cx="1563300" cy="26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151279" y="3740516"/>
            <a:ext cx="1563300" cy="114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226919" y="3844425"/>
            <a:ext cx="1386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sz="1000"/>
          </a:p>
        </p:txBody>
      </p:sp>
      <p:sp>
        <p:nvSpPr>
          <p:cNvPr id="167" name="Google Shape;167;p25"/>
          <p:cNvSpPr txBox="1"/>
          <p:nvPr/>
        </p:nvSpPr>
        <p:spPr>
          <a:xfrm>
            <a:off x="226919" y="4017607"/>
            <a:ext cx="1386600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PROJECT 1a · BASELINE EVIDENCE</a:t>
            </a:r>
            <a:endParaRPr sz="1000"/>
          </a:p>
        </p:txBody>
      </p:sp>
      <p:sp>
        <p:nvSpPr>
          <p:cNvPr id="168" name="Google Shape;168;p25"/>
          <p:cNvSpPr txBox="1"/>
          <p:nvPr/>
        </p:nvSpPr>
        <p:spPr>
          <a:xfrm>
            <a:off x="226919" y="4202334"/>
            <a:ext cx="1411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Map real user goals</a:t>
            </a:r>
            <a:endParaRPr sz="1000"/>
          </a:p>
        </p:txBody>
      </p:sp>
      <p:sp>
        <p:nvSpPr>
          <p:cNvPr id="169" name="Google Shape;169;p25"/>
          <p:cNvSpPr txBox="1"/>
          <p:nvPr/>
        </p:nvSpPr>
        <p:spPr>
          <a:xfrm>
            <a:off x="226919" y="4340880"/>
            <a:ext cx="1411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28 documented use cases. Trace routes and record success and exception paths for accounts, planning, orders, reviews, and analytics.</a:t>
            </a:r>
            <a:endParaRPr sz="1000"/>
          </a:p>
        </p:txBody>
      </p:sp>
      <p:sp>
        <p:nvSpPr>
          <p:cNvPr id="170" name="Google Shape;170;p25"/>
          <p:cNvSpPr txBox="1"/>
          <p:nvPr/>
        </p:nvSpPr>
        <p:spPr>
          <a:xfrm>
            <a:off x="226919" y="4664153"/>
            <a:ext cx="1411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Establish regression evidence</a:t>
            </a:r>
            <a:endParaRPr sz="1000"/>
          </a:p>
        </p:txBody>
      </p:sp>
      <p:sp>
        <p:nvSpPr>
          <p:cNvPr id="171" name="Google Shape;171;p25"/>
          <p:cNvSpPr txBox="1"/>
          <p:nvPr/>
        </p:nvSpPr>
        <p:spPr>
          <a:xfrm>
            <a:off x="226919" y="4802698"/>
            <a:ext cx="1411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172 test functions in 28 modules. Use Flask clients and temporary SQLite fixtures; attach a verified run summary.</a:t>
            </a:r>
            <a:endParaRPr sz="1000"/>
          </a:p>
        </p:txBody>
      </p:sp>
      <p:sp>
        <p:nvSpPr>
          <p:cNvPr id="172" name="Google Shape;172;p25"/>
          <p:cNvSpPr txBox="1"/>
          <p:nvPr/>
        </p:nvSpPr>
        <p:spPr>
          <a:xfrm>
            <a:off x="226919" y="5125971"/>
            <a:ext cx="1411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Understand planning limits</a:t>
            </a:r>
            <a:endParaRPr sz="1000"/>
          </a:p>
        </p:txBody>
      </p:sp>
      <p:sp>
        <p:nvSpPr>
          <p:cNvPr id="173" name="Google Shape;173;p25"/>
          <p:cNvSpPr txBox="1"/>
          <p:nvPr/>
        </p:nvSpPr>
        <p:spPr>
          <a:xfrm>
            <a:off x="226919" y="5264516"/>
            <a:ext cx="1411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Trace UC06–07 and tests: generation checks hours, stock, and declared allergies while retaining existing slots.</a:t>
            </a:r>
            <a:endParaRPr sz="1000"/>
          </a:p>
        </p:txBody>
      </p:sp>
      <p:sp>
        <p:nvSpPr>
          <p:cNvPr id="174" name="Google Shape;174;p25"/>
          <p:cNvSpPr/>
          <p:nvPr/>
        </p:nvSpPr>
        <p:spPr>
          <a:xfrm>
            <a:off x="1790140" y="3740516"/>
            <a:ext cx="1563300" cy="26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5"/>
          <p:cNvSpPr/>
          <p:nvPr/>
        </p:nvSpPr>
        <p:spPr>
          <a:xfrm>
            <a:off x="1790140" y="3740516"/>
            <a:ext cx="1563300" cy="1140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1865779" y="3844425"/>
            <a:ext cx="1386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 sz="1000"/>
          </a:p>
        </p:txBody>
      </p:sp>
      <p:sp>
        <p:nvSpPr>
          <p:cNvPr id="177" name="Google Shape;177;p25"/>
          <p:cNvSpPr txBox="1"/>
          <p:nvPr/>
        </p:nvSpPr>
        <p:spPr>
          <a:xfrm>
            <a:off x="1865779" y="4017607"/>
            <a:ext cx="1386600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PROJECT 2 · THIS MONTH'S PROPOSAL</a:t>
            </a:r>
            <a:endParaRPr sz="1000"/>
          </a:p>
        </p:txBody>
      </p:sp>
      <p:sp>
        <p:nvSpPr>
          <p:cNvPr id="178" name="Google Shape;178;p25"/>
          <p:cNvSpPr txBox="1"/>
          <p:nvPr/>
        </p:nvSpPr>
        <p:spPr>
          <a:xfrm>
            <a:off x="1865779" y="4202334"/>
            <a:ext cx="1411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Budget-aware generation</a:t>
            </a:r>
            <a:endParaRPr sz="1000"/>
          </a:p>
        </p:txBody>
      </p:sp>
      <p:sp>
        <p:nvSpPr>
          <p:cNvPr id="179" name="Google Shape;179;p25"/>
          <p:cNvSpPr txBox="1"/>
          <p:nvPr/>
        </p:nvSpPr>
        <p:spPr>
          <a:xfrm>
            <a:off x="1865779" y="4340880"/>
            <a:ext cx="1411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Add a weekly cap and item total; filter and rank eligible candidates. Test exact-limit and impossible-budget cases.</a:t>
            </a:r>
            <a:endParaRPr sz="1000"/>
          </a:p>
        </p:txBody>
      </p:sp>
      <p:sp>
        <p:nvSpPr>
          <p:cNvPr id="180" name="Google Shape;180;p25"/>
          <p:cNvSpPr txBox="1"/>
          <p:nvPr/>
        </p:nvSpPr>
        <p:spPr>
          <a:xfrm>
            <a:off x="1865779" y="4664153"/>
            <a:ext cx="1411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Single-meal swaps</a:t>
            </a:r>
            <a:endParaRPr sz="1000"/>
          </a:p>
        </p:txBody>
      </p:sp>
      <p:sp>
        <p:nvSpPr>
          <p:cNvPr id="181" name="Google Shape;181;p25"/>
          <p:cNvSpPr txBox="1"/>
          <p:nvPr/>
        </p:nvSpPr>
        <p:spPr>
          <a:xfrm>
            <a:off x="1865779" y="4802698"/>
            <a:ext cx="1411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Replace one date/meal slot after server-side availability and allergen checks. Test that other slots stay intact.</a:t>
            </a:r>
            <a:endParaRPr sz="1000"/>
          </a:p>
        </p:txBody>
      </p:sp>
      <p:sp>
        <p:nvSpPr>
          <p:cNvPr id="182" name="Google Shape;182;p25"/>
          <p:cNvSpPr txBox="1"/>
          <p:nvPr/>
        </p:nvSpPr>
        <p:spPr>
          <a:xfrm>
            <a:off x="1865779" y="5125971"/>
            <a:ext cx="1411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Visible order progress</a:t>
            </a:r>
            <a:endParaRPr sz="1000"/>
          </a:p>
        </p:txBody>
      </p:sp>
      <p:sp>
        <p:nvSpPr>
          <p:cNvPr id="183" name="Google Shape;183;p25"/>
          <p:cNvSpPr txBox="1"/>
          <p:nvPr/>
        </p:nvSpPr>
        <p:spPr>
          <a:xfrm>
            <a:off x="1865779" y="5264516"/>
            <a:ext cx="1411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Persist transition timestamps; refresh a customer timeline. Test ownership, legal transitions, and terminal states.</a:t>
            </a:r>
            <a:endParaRPr sz="1000"/>
          </a:p>
        </p:txBody>
      </p:sp>
      <p:sp>
        <p:nvSpPr>
          <p:cNvPr id="184" name="Google Shape;184;p25"/>
          <p:cNvSpPr/>
          <p:nvPr/>
        </p:nvSpPr>
        <p:spPr>
          <a:xfrm>
            <a:off x="3429000" y="3740516"/>
            <a:ext cx="1563300" cy="26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3429000" y="3740516"/>
            <a:ext cx="1563300" cy="114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3504640" y="3844425"/>
            <a:ext cx="1386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endParaRPr sz="1000"/>
          </a:p>
        </p:txBody>
      </p:sp>
      <p:sp>
        <p:nvSpPr>
          <p:cNvPr id="187" name="Google Shape;187;p25"/>
          <p:cNvSpPr txBox="1"/>
          <p:nvPr/>
        </p:nvSpPr>
        <p:spPr>
          <a:xfrm>
            <a:off x="3504640" y="4017607"/>
            <a:ext cx="1386600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PROJECT 3 · NEXT MONTH'S OPTIONS</a:t>
            </a:r>
            <a:endParaRPr sz="1000"/>
          </a:p>
        </p:txBody>
      </p:sp>
      <p:sp>
        <p:nvSpPr>
          <p:cNvPr id="188" name="Google Shape;188;p25"/>
          <p:cNvSpPr txBox="1"/>
          <p:nvPr/>
        </p:nvSpPr>
        <p:spPr>
          <a:xfrm>
            <a:off x="3504640" y="4202334"/>
            <a:ext cx="1411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Reusable weekly templates</a:t>
            </a:r>
            <a:endParaRPr sz="1000"/>
          </a:p>
        </p:txBody>
      </p:sp>
      <p:sp>
        <p:nvSpPr>
          <p:cNvPr id="189" name="Google Shape;189;p25"/>
          <p:cNvSpPr txBox="1"/>
          <p:nvPr/>
        </p:nvSpPr>
        <p:spPr>
          <a:xfrm>
            <a:off x="3504640" y="4340880"/>
            <a:ext cx="1411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Save and copy a week to new dates; recheck prices, hours, and stock. Require review before creating orders.</a:t>
            </a:r>
            <a:endParaRPr sz="1000"/>
          </a:p>
        </p:txBody>
      </p:sp>
      <p:sp>
        <p:nvSpPr>
          <p:cNvPr id="190" name="Google Shape;190;p25"/>
          <p:cNvSpPr txBox="1"/>
          <p:nvPr/>
        </p:nvSpPr>
        <p:spPr>
          <a:xfrm>
            <a:off x="3504640" y="4664153"/>
            <a:ext cx="1411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Explainable suggestions</a:t>
            </a:r>
            <a:endParaRPr sz="1000"/>
          </a:p>
        </p:txBody>
      </p:sp>
      <p:sp>
        <p:nvSpPr>
          <p:cNvPr id="191" name="Google Shape;191;p25"/>
          <p:cNvSpPr txBox="1"/>
          <p:nvPr/>
        </p:nvSpPr>
        <p:spPr>
          <a:xfrm>
            <a:off x="3504640" y="4802698"/>
            <a:ext cx="14118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222222"/>
                </a:solidFill>
              </a:rPr>
              <a:t>Allow users to get suggestions based on previous preferences, available budget, etc.</a:t>
            </a:r>
            <a:endParaRPr sz="1000"/>
          </a:p>
        </p:txBody>
      </p:sp>
      <p:sp>
        <p:nvSpPr>
          <p:cNvPr id="192" name="Google Shape;192;p25"/>
          <p:cNvSpPr txBox="1"/>
          <p:nvPr/>
        </p:nvSpPr>
        <p:spPr>
          <a:xfrm>
            <a:off x="3504640" y="5125971"/>
            <a:ext cx="1411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Restaurant demand preview</a:t>
            </a:r>
            <a:endParaRPr sz="1000"/>
          </a:p>
        </p:txBody>
      </p:sp>
      <p:sp>
        <p:nvSpPr>
          <p:cNvPr id="193" name="Google Shape;193;p25"/>
          <p:cNvSpPr txBox="1"/>
          <p:nvPr/>
        </p:nvSpPr>
        <p:spPr>
          <a:xfrm>
            <a:off x="3504640" y="5264516"/>
            <a:ext cx="1411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Aggregate plans by date and meal. Separate tentative selections from orders; omit customer identities.</a:t>
            </a:r>
            <a:endParaRPr sz="1000"/>
          </a:p>
        </p:txBody>
      </p:sp>
      <p:sp>
        <p:nvSpPr>
          <p:cNvPr id="194" name="Google Shape;194;p25"/>
          <p:cNvSpPr/>
          <p:nvPr/>
        </p:nvSpPr>
        <p:spPr>
          <a:xfrm>
            <a:off x="151279" y="5784062"/>
            <a:ext cx="4840800" cy="48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173736" y="5853334"/>
            <a:ext cx="713232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000"/>
          </a:p>
        </p:txBody>
      </p:sp>
      <p:sp>
        <p:nvSpPr>
          <p:cNvPr id="196" name="Google Shape;196;p25"/>
          <p:cNvSpPr txBox="1"/>
          <p:nvPr/>
        </p:nvSpPr>
        <p:spPr>
          <a:xfrm>
            <a:off x="173736" y="6095789"/>
            <a:ext cx="713232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documented use cases</a:t>
            </a:r>
            <a:endParaRPr sz="1000"/>
          </a:p>
        </p:txBody>
      </p:sp>
      <p:sp>
        <p:nvSpPr>
          <p:cNvPr id="197" name="Google Shape;197;p25"/>
          <p:cNvSpPr txBox="1"/>
          <p:nvPr/>
        </p:nvSpPr>
        <p:spPr>
          <a:xfrm>
            <a:off x="978408" y="5853334"/>
            <a:ext cx="713232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000"/>
          </a:p>
        </p:txBody>
      </p:sp>
      <p:sp>
        <p:nvSpPr>
          <p:cNvPr id="198" name="Google Shape;198;p25"/>
          <p:cNvSpPr txBox="1"/>
          <p:nvPr/>
        </p:nvSpPr>
        <p:spPr>
          <a:xfrm>
            <a:off x="978408" y="6095789"/>
            <a:ext cx="713232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Project 1a test modules</a:t>
            </a:r>
            <a:endParaRPr sz="1000"/>
          </a:p>
        </p:txBody>
      </p:sp>
      <p:sp>
        <p:nvSpPr>
          <p:cNvPr id="199" name="Google Shape;199;p25"/>
          <p:cNvSpPr txBox="1"/>
          <p:nvPr/>
        </p:nvSpPr>
        <p:spPr>
          <a:xfrm>
            <a:off x="1783080" y="5850509"/>
            <a:ext cx="713232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172</a:t>
            </a:r>
            <a:endParaRPr sz="1000"/>
          </a:p>
        </p:txBody>
      </p:sp>
      <p:sp>
        <p:nvSpPr>
          <p:cNvPr id="200" name="Google Shape;200;p25"/>
          <p:cNvSpPr txBox="1"/>
          <p:nvPr/>
        </p:nvSpPr>
        <p:spPr>
          <a:xfrm>
            <a:off x="1783080" y="6100189"/>
            <a:ext cx="713232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test functions</a:t>
            </a:r>
            <a:endParaRPr sz="1000"/>
          </a:p>
        </p:txBody>
      </p:sp>
      <p:sp>
        <p:nvSpPr>
          <p:cNvPr id="201" name="Google Shape;201;p25"/>
          <p:cNvSpPr txBox="1"/>
          <p:nvPr/>
        </p:nvSpPr>
        <p:spPr>
          <a:xfrm>
            <a:off x="151279" y="7389091"/>
            <a:ext cx="1563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Existing system · your week at a glance.</a:t>
            </a:r>
            <a:endParaRPr sz="1000"/>
          </a:p>
        </p:txBody>
      </p:sp>
      <p:sp>
        <p:nvSpPr>
          <p:cNvPr id="202" name="Google Shape;202;p25"/>
          <p:cNvSpPr txBox="1"/>
          <p:nvPr/>
        </p:nvSpPr>
        <p:spPr>
          <a:xfrm>
            <a:off x="1827915" y="7389503"/>
            <a:ext cx="1563300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Existing system · manage the order lifecycle.</a:t>
            </a:r>
            <a:endParaRPr sz="1000"/>
          </a:p>
        </p:txBody>
      </p:sp>
      <p:sp>
        <p:nvSpPr>
          <p:cNvPr id="203" name="Google Shape;203;p25"/>
          <p:cNvSpPr/>
          <p:nvPr/>
        </p:nvSpPr>
        <p:spPr>
          <a:xfrm>
            <a:off x="3429000" y="6754091"/>
            <a:ext cx="1563300" cy="577200"/>
          </a:xfrm>
          <a:prstGeom prst="rect">
            <a:avLst/>
          </a:prstGeom>
          <a:solidFill>
            <a:srgbClr val="FAFAFA"/>
          </a:solidFill>
          <a:ln cap="flat" cmpd="sng" w="9525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3471022" y="6881091"/>
            <a:ext cx="1479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INSERT TEST-RUN CAPTURE</a:t>
            </a:r>
            <a:endParaRPr sz="1000"/>
          </a:p>
        </p:txBody>
      </p:sp>
      <p:sp>
        <p:nvSpPr>
          <p:cNvPr id="205" name="Google Shape;205;p25"/>
          <p:cNvSpPr txBox="1"/>
          <p:nvPr/>
        </p:nvSpPr>
        <p:spPr>
          <a:xfrm>
            <a:off x="3471022" y="7019636"/>
            <a:ext cx="1479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Project 1a suite summary</a:t>
            </a:r>
            <a:endParaRPr sz="1000"/>
          </a:p>
        </p:txBody>
      </p:sp>
      <p:sp>
        <p:nvSpPr>
          <p:cNvPr id="206" name="Google Shape;206;p25"/>
          <p:cNvSpPr txBox="1"/>
          <p:nvPr/>
        </p:nvSpPr>
        <p:spPr>
          <a:xfrm>
            <a:off x="3471022" y="7158182"/>
            <a:ext cx="14793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Include date and commit</a:t>
            </a:r>
            <a:endParaRPr sz="1000"/>
          </a:p>
        </p:txBody>
      </p:sp>
      <p:sp>
        <p:nvSpPr>
          <p:cNvPr id="207" name="Google Shape;207;p25"/>
          <p:cNvSpPr txBox="1"/>
          <p:nvPr/>
        </p:nvSpPr>
        <p:spPr>
          <a:xfrm>
            <a:off x="3429000" y="7389091"/>
            <a:ext cx="1563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Evidence · report actual results before submission.</a:t>
            </a:r>
            <a:endParaRPr sz="1000"/>
          </a:p>
        </p:txBody>
      </p:sp>
      <p:sp>
        <p:nvSpPr>
          <p:cNvPr id="208" name="Google Shape;208;p25"/>
          <p:cNvSpPr/>
          <p:nvPr/>
        </p:nvSpPr>
        <p:spPr>
          <a:xfrm>
            <a:off x="151279" y="7643091"/>
            <a:ext cx="134400" cy="18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151279" y="7677727"/>
            <a:ext cx="134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Py</a:t>
            </a:r>
            <a:endParaRPr sz="1000"/>
          </a:p>
        </p:txBody>
      </p:sp>
      <p:sp>
        <p:nvSpPr>
          <p:cNvPr id="210" name="Google Shape;210;p25"/>
          <p:cNvSpPr txBox="1"/>
          <p:nvPr/>
        </p:nvSpPr>
        <p:spPr>
          <a:xfrm>
            <a:off x="319368" y="7677727"/>
            <a:ext cx="78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Python / Flask</a:t>
            </a:r>
            <a:endParaRPr sz="1000"/>
          </a:p>
        </p:txBody>
      </p:sp>
      <p:sp>
        <p:nvSpPr>
          <p:cNvPr id="211" name="Google Shape;211;p25"/>
          <p:cNvSpPr txBox="1"/>
          <p:nvPr/>
        </p:nvSpPr>
        <p:spPr>
          <a:xfrm>
            <a:off x="151279" y="7885545"/>
            <a:ext cx="916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Extend existing planning and order routes.</a:t>
            </a:r>
            <a:endParaRPr sz="1000"/>
          </a:p>
        </p:txBody>
      </p:sp>
      <p:sp>
        <p:nvSpPr>
          <p:cNvPr id="212" name="Google Shape;212;p25"/>
          <p:cNvSpPr/>
          <p:nvPr/>
        </p:nvSpPr>
        <p:spPr>
          <a:xfrm>
            <a:off x="1134596" y="7643091"/>
            <a:ext cx="134400" cy="18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1134596" y="7677727"/>
            <a:ext cx="134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endParaRPr sz="1000"/>
          </a:p>
        </p:txBody>
      </p:sp>
      <p:sp>
        <p:nvSpPr>
          <p:cNvPr id="214" name="Google Shape;214;p25"/>
          <p:cNvSpPr txBox="1"/>
          <p:nvPr/>
        </p:nvSpPr>
        <p:spPr>
          <a:xfrm>
            <a:off x="1302684" y="7677727"/>
            <a:ext cx="78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SQLite</a:t>
            </a:r>
            <a:endParaRPr sz="1000"/>
          </a:p>
        </p:txBody>
      </p:sp>
      <p:sp>
        <p:nvSpPr>
          <p:cNvPr id="215" name="Google Shape;215;p25"/>
          <p:cNvSpPr txBox="1"/>
          <p:nvPr/>
        </p:nvSpPr>
        <p:spPr>
          <a:xfrm>
            <a:off x="1134596" y="7885545"/>
            <a:ext cx="916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Store budgets, meals, and transition history.</a:t>
            </a:r>
            <a:endParaRPr sz="1000"/>
          </a:p>
        </p:txBody>
      </p:sp>
      <p:sp>
        <p:nvSpPr>
          <p:cNvPr id="216" name="Google Shape;216;p25"/>
          <p:cNvSpPr/>
          <p:nvPr/>
        </p:nvSpPr>
        <p:spPr>
          <a:xfrm>
            <a:off x="2117912" y="7643091"/>
            <a:ext cx="134400" cy="18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2117912" y="7677727"/>
            <a:ext cx="134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&lt;/&gt;</a:t>
            </a:r>
            <a:endParaRPr sz="1000"/>
          </a:p>
        </p:txBody>
      </p:sp>
      <p:sp>
        <p:nvSpPr>
          <p:cNvPr id="218" name="Google Shape;218;p25"/>
          <p:cNvSpPr txBox="1"/>
          <p:nvPr/>
        </p:nvSpPr>
        <p:spPr>
          <a:xfrm>
            <a:off x="2286000" y="7677727"/>
            <a:ext cx="78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HTML / CSS / JS</a:t>
            </a:r>
            <a:endParaRPr sz="1000"/>
          </a:p>
        </p:txBody>
      </p:sp>
      <p:sp>
        <p:nvSpPr>
          <p:cNvPr id="219" name="Google Shape;219;p25"/>
          <p:cNvSpPr txBox="1"/>
          <p:nvPr/>
        </p:nvSpPr>
        <p:spPr>
          <a:xfrm>
            <a:off x="2117912" y="7885545"/>
            <a:ext cx="916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Calendar actions and timeline refresh.</a:t>
            </a:r>
            <a:endParaRPr sz="1000"/>
          </a:p>
        </p:txBody>
      </p:sp>
      <p:sp>
        <p:nvSpPr>
          <p:cNvPr id="220" name="Google Shape;220;p25"/>
          <p:cNvSpPr/>
          <p:nvPr/>
        </p:nvSpPr>
        <p:spPr>
          <a:xfrm>
            <a:off x="3101228" y="7643091"/>
            <a:ext cx="134400" cy="18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3101228" y="7677727"/>
            <a:ext cx="134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sz="1000"/>
          </a:p>
        </p:txBody>
      </p:sp>
      <p:sp>
        <p:nvSpPr>
          <p:cNvPr id="222" name="Google Shape;222;p25"/>
          <p:cNvSpPr txBox="1"/>
          <p:nvPr/>
        </p:nvSpPr>
        <p:spPr>
          <a:xfrm>
            <a:off x="3269316" y="7677727"/>
            <a:ext cx="78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LLM + fallback</a:t>
            </a:r>
            <a:endParaRPr sz="1000"/>
          </a:p>
        </p:txBody>
      </p:sp>
      <p:sp>
        <p:nvSpPr>
          <p:cNvPr id="223" name="Google Shape;223;p25"/>
          <p:cNvSpPr txBox="1"/>
          <p:nvPr/>
        </p:nvSpPr>
        <p:spPr>
          <a:xfrm>
            <a:off x="3101228" y="7885545"/>
            <a:ext cx="916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Rank candidates; enforce constraints in code.</a:t>
            </a:r>
            <a:endParaRPr sz="1000"/>
          </a:p>
        </p:txBody>
      </p:sp>
      <p:sp>
        <p:nvSpPr>
          <p:cNvPr id="224" name="Google Shape;224;p25"/>
          <p:cNvSpPr/>
          <p:nvPr/>
        </p:nvSpPr>
        <p:spPr>
          <a:xfrm>
            <a:off x="4084544" y="7643091"/>
            <a:ext cx="134400" cy="184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4084544" y="7677727"/>
            <a:ext cx="134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CI</a:t>
            </a:r>
            <a:endParaRPr sz="1000"/>
          </a:p>
        </p:txBody>
      </p:sp>
      <p:sp>
        <p:nvSpPr>
          <p:cNvPr id="226" name="Google Shape;226;p25"/>
          <p:cNvSpPr txBox="1"/>
          <p:nvPr/>
        </p:nvSpPr>
        <p:spPr>
          <a:xfrm>
            <a:off x="4252632" y="7677727"/>
            <a:ext cx="789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pytest / Actions</a:t>
            </a:r>
            <a:endParaRPr sz="1000"/>
          </a:p>
        </p:txBody>
      </p:sp>
      <p:sp>
        <p:nvSpPr>
          <p:cNvPr id="227" name="Google Shape;227;p25"/>
          <p:cNvSpPr txBox="1"/>
          <p:nvPr/>
        </p:nvSpPr>
        <p:spPr>
          <a:xfrm>
            <a:off x="4084544" y="7885545"/>
            <a:ext cx="9162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Check regressions as features evolve.</a:t>
            </a:r>
            <a:endParaRPr sz="1000"/>
          </a:p>
        </p:txBody>
      </p:sp>
      <p:sp>
        <p:nvSpPr>
          <p:cNvPr id="228" name="Google Shape;228;p25"/>
          <p:cNvSpPr txBox="1"/>
          <p:nvPr/>
        </p:nvSpPr>
        <p:spPr>
          <a:xfrm>
            <a:off x="151279" y="8220364"/>
            <a:ext cx="1563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000"/>
          </a:p>
        </p:txBody>
      </p:sp>
      <p:sp>
        <p:nvSpPr>
          <p:cNvPr id="229" name="Google Shape;229;p25"/>
          <p:cNvSpPr/>
          <p:nvPr/>
        </p:nvSpPr>
        <p:spPr>
          <a:xfrm>
            <a:off x="773206" y="8382000"/>
            <a:ext cx="319500" cy="438600"/>
          </a:xfrm>
          <a:prstGeom prst="rect">
            <a:avLst/>
          </a:prstGeom>
          <a:noFill/>
          <a:ln cap="flat" cmpd="sng" w="9525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 txBox="1"/>
          <p:nvPr/>
        </p:nvSpPr>
        <p:spPr>
          <a:xfrm>
            <a:off x="773206" y="8497455"/>
            <a:ext cx="31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 sz="1000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REPO QR</a:t>
            </a:r>
            <a:endParaRPr sz="1000"/>
          </a:p>
        </p:txBody>
      </p:sp>
      <p:sp>
        <p:nvSpPr>
          <p:cNvPr id="231" name="Google Shape;231;p25"/>
          <p:cNvSpPr txBox="1"/>
          <p:nvPr/>
        </p:nvSpPr>
        <p:spPr>
          <a:xfrm>
            <a:off x="151279" y="8866909"/>
            <a:ext cx="15633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https://github.com/rdpatel2/Weeklies</a:t>
            </a:r>
            <a:endParaRPr sz="1000"/>
          </a:p>
        </p:txBody>
      </p:sp>
      <p:sp>
        <p:nvSpPr>
          <p:cNvPr id="232" name="Google Shape;232;p25"/>
          <p:cNvSpPr txBox="1"/>
          <p:nvPr/>
        </p:nvSpPr>
        <p:spPr>
          <a:xfrm>
            <a:off x="1790140" y="8220364"/>
            <a:ext cx="1563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DISCUSSION FORUM</a:t>
            </a:r>
            <a:endParaRPr sz="1000"/>
          </a:p>
        </p:txBody>
      </p:sp>
      <p:sp>
        <p:nvSpPr>
          <p:cNvPr id="233" name="Google Shape;233;p25"/>
          <p:cNvSpPr/>
          <p:nvPr/>
        </p:nvSpPr>
        <p:spPr>
          <a:xfrm>
            <a:off x="2412066" y="8382000"/>
            <a:ext cx="319500" cy="438600"/>
          </a:xfrm>
          <a:prstGeom prst="rect">
            <a:avLst/>
          </a:prstGeom>
          <a:noFill/>
          <a:ln cap="flat" cmpd="sng" w="9525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2412066" y="8497455"/>
            <a:ext cx="31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 sz="1000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FORUM QR</a:t>
            </a:r>
            <a:endParaRPr sz="1000"/>
          </a:p>
        </p:txBody>
      </p:sp>
      <p:sp>
        <p:nvSpPr>
          <p:cNvPr id="235" name="Google Shape;235;p25"/>
          <p:cNvSpPr txBox="1"/>
          <p:nvPr/>
        </p:nvSpPr>
        <p:spPr>
          <a:xfrm>
            <a:off x="1790140" y="8866909"/>
            <a:ext cx="15633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[FORUM URL]</a:t>
            </a:r>
            <a:endParaRPr sz="1000"/>
          </a:p>
        </p:txBody>
      </p:sp>
      <p:sp>
        <p:nvSpPr>
          <p:cNvPr id="236" name="Google Shape;236;p25"/>
          <p:cNvSpPr txBox="1"/>
          <p:nvPr/>
        </p:nvSpPr>
        <p:spPr>
          <a:xfrm>
            <a:off x="3429000" y="8220364"/>
            <a:ext cx="1563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FEATURE WALKTHROUGH</a:t>
            </a:r>
            <a:endParaRPr sz="1000"/>
          </a:p>
        </p:txBody>
      </p:sp>
      <p:sp>
        <p:nvSpPr>
          <p:cNvPr id="237" name="Google Shape;237;p25"/>
          <p:cNvSpPr/>
          <p:nvPr/>
        </p:nvSpPr>
        <p:spPr>
          <a:xfrm>
            <a:off x="4050926" y="8382000"/>
            <a:ext cx="319500" cy="438600"/>
          </a:xfrm>
          <a:prstGeom prst="rect">
            <a:avLst/>
          </a:prstGeom>
          <a:noFill/>
          <a:ln cap="flat" cmpd="sng" w="9525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000" lIns="68050" spcFirstLastPara="1" rIns="68050" wrap="square" tIns="34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4050926" y="8497455"/>
            <a:ext cx="319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 sz="1000"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VIDEO QR</a:t>
            </a:r>
            <a:endParaRPr sz="1000"/>
          </a:p>
        </p:txBody>
      </p:sp>
      <p:sp>
        <p:nvSpPr>
          <p:cNvPr id="239" name="Google Shape;239;p25"/>
          <p:cNvSpPr txBox="1"/>
          <p:nvPr/>
        </p:nvSpPr>
        <p:spPr>
          <a:xfrm>
            <a:off x="3429000" y="8866909"/>
            <a:ext cx="1563300" cy="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[VIDEO URL]</a:t>
            </a:r>
            <a:endParaRPr sz="1000"/>
          </a:p>
        </p:txBody>
      </p:sp>
      <p:sp>
        <p:nvSpPr>
          <p:cNvPr id="240" name="Google Shape;240;p25"/>
          <p:cNvSpPr txBox="1"/>
          <p:nvPr/>
        </p:nvSpPr>
        <p:spPr>
          <a:xfrm>
            <a:off x="151279" y="9028545"/>
            <a:ext cx="4840800" cy="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DRAFT · Replace team details, screenshots, test evidence, icon badges, and QR/link placeholders before submission.</a:t>
            </a:r>
            <a:endParaRPr sz="1000"/>
          </a:p>
        </p:txBody>
      </p:sp>
      <p:pic>
        <p:nvPicPr>
          <p:cNvPr id="241" name="Google Shape;24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200" y="6340000"/>
            <a:ext cx="1479176" cy="100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2000" y="6338250"/>
            <a:ext cx="1675374" cy="1000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33763" y="6338238"/>
            <a:ext cx="1638874" cy="100052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2587752" y="5868859"/>
            <a:ext cx="713232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22222"/>
                </a:solidFill>
              </a:rPr>
              <a:t>164</a:t>
            </a:r>
            <a:endParaRPr sz="1000"/>
          </a:p>
        </p:txBody>
      </p:sp>
      <p:sp>
        <p:nvSpPr>
          <p:cNvPr id="245" name="Google Shape;245;p25"/>
          <p:cNvSpPr txBox="1"/>
          <p:nvPr/>
        </p:nvSpPr>
        <p:spPr>
          <a:xfrm>
            <a:off x="2587752" y="6100189"/>
            <a:ext cx="713232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rgbClr val="222222"/>
                </a:solidFill>
              </a:rPr>
              <a:t>Tests passing</a:t>
            </a:r>
            <a:endParaRPr sz="1000"/>
          </a:p>
        </p:txBody>
      </p:sp>
      <p:sp>
        <p:nvSpPr>
          <p:cNvPr id="246" name="Google Shape;246;p25"/>
          <p:cNvSpPr txBox="1"/>
          <p:nvPr/>
        </p:nvSpPr>
        <p:spPr>
          <a:xfrm>
            <a:off x="3392424" y="5863509"/>
            <a:ext cx="713232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222222"/>
                </a:solidFill>
              </a:rPr>
              <a:t>8</a:t>
            </a:r>
            <a:endParaRPr sz="1000"/>
          </a:p>
        </p:txBody>
      </p:sp>
      <p:sp>
        <p:nvSpPr>
          <p:cNvPr id="247" name="Google Shape;247;p25"/>
          <p:cNvSpPr txBox="1"/>
          <p:nvPr/>
        </p:nvSpPr>
        <p:spPr>
          <a:xfrm>
            <a:off x="3392424" y="6100201"/>
            <a:ext cx="713232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rgbClr val="222222"/>
                </a:solidFill>
              </a:rPr>
              <a:t>Tests skipped (temporary)</a:t>
            </a:r>
            <a:endParaRPr sz="1000"/>
          </a:p>
        </p:txBody>
      </p:sp>
      <p:sp>
        <p:nvSpPr>
          <p:cNvPr id="248" name="Google Shape;248;p25"/>
          <p:cNvSpPr txBox="1"/>
          <p:nvPr/>
        </p:nvSpPr>
        <p:spPr>
          <a:xfrm>
            <a:off x="4197096" y="5857309"/>
            <a:ext cx="713232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66">
                <a:solidFill>
                  <a:srgbClr val="222222"/>
                </a:solidFill>
              </a:rPr>
              <a:t>75.8%</a:t>
            </a:r>
            <a:endParaRPr sz="1000"/>
          </a:p>
        </p:txBody>
      </p:sp>
      <p:sp>
        <p:nvSpPr>
          <p:cNvPr id="249" name="Google Shape;249;p25"/>
          <p:cNvSpPr txBox="1"/>
          <p:nvPr/>
        </p:nvSpPr>
        <p:spPr>
          <a:xfrm>
            <a:off x="4197096" y="6100214"/>
            <a:ext cx="713232" cy="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">
                <a:solidFill>
                  <a:srgbClr val="222222"/>
                </a:solidFill>
              </a:rPr>
              <a:t>Test Coverage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