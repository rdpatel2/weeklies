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WEEKLIES — Your meals. Your schedule. Your budget.</a:t>
            </a:r>
          </a:p>
          <a:p>
            <a:r>
              <a:t>**CSC 510 / Project 1b / Proposal**  </a:t>
            </a:r>
          </a:p>
          <a:p>
            <a:r>
              <a:t>**Group 11 | Srikar Desemsetti, Rohan Patel, Alex Tanton, Kushal Upretti**</a:t>
            </a:r>
          </a:p>
          <a:p>
            <a:r>
              <a:t>## Project overview</a:t>
            </a:r>
          </a:p>
          <a:p>
            <a:r>
              <a:t>Choosing meals every day takes time, and more often than not, a weekly plan can be costly and get old quickly. We propose extending Weeklies into a budget-aware meal planner that lets customers set a weekly limit, understand selections, and replace meals without rebuilding their calendar. Restaurant owners and kitchen staff gain clearer order updates and a view of upcoming demand: less daily planning, more spending control, and better coordination.</a:t>
            </a:r>
          </a:p>
          <a:p>
            <a:r>
              <a:t>## Who benefits?</a:t>
            </a:r>
          </a:p>
          <a:p>
            <a:r>
              <a:t>**Customers** — Busy people who need to balance time, cost, and preferences.  </a:t>
            </a:r>
          </a:p>
          <a:p>
            <a:r>
              <a:t>**Restaurant owners** — See upcoming demand and manage fulfillment.  </a:t>
            </a:r>
          </a:p>
          <a:p>
            <a:r>
              <a:t>**Kitchen staff** — Follow an explicit preparation queue.  </a:t>
            </a:r>
          </a:p>
          <a:p>
            <a:r>
              <a:t>**Maintainers** — Build on reproducible use-case tests.</a:t>
            </a:r>
          </a:p>
          <a:p>
            <a:r>
              <a:t>## Our next version</a:t>
            </a:r>
          </a:p>
          <a:p>
            <a:r>
              <a:t>**Budget — Weekly spending limits.** Compare meal prices across vendors and allocate a weekly budget for meals.  </a:t>
            </a:r>
          </a:p>
          <a:p>
            <a:r>
              <a:t>**Meal selection — Individual meal replacement.** Swap a single calendar entry for the week without disrupting future plans.  </a:t>
            </a:r>
          </a:p>
          <a:p>
            <a:r>
              <a:t>**Order status — Order progress timeline.** See recorded order transitions on a timeline that refreshes as the restaurant progresses through fulfillment.</a:t>
            </a:r>
          </a:p>
          <a:p>
            <a:r>
              <a:t>## Development plan</a:t>
            </a:r>
          </a:p>
          <a:p>
            <a:r>
              <a:t>### Before · Project 1a baseline</a:t>
            </a:r>
          </a:p>
          <a:p>
            <a:r>
              <a:t>**Map real user goals.** 28 documented use cases. Trace routes and record success and exception paths for accounts, planning, orders, reviews, and analytics.  </a:t>
            </a:r>
          </a:p>
          <a:p>
            <a:r>
              <a:t>**Establish regression evidence.** 172 test functions in 28 modules. Use Flask clients and temporary SQLite fixtures; attach a verified run summary.  </a:t>
            </a:r>
          </a:p>
          <a:p>
            <a:r>
              <a:t>**Understand planning limits.** Trace UC06–07 and tests: generation checks hours, stock, and declared allergies while retaining existing slots.</a:t>
            </a:r>
          </a:p>
          <a:p>
            <a:r>
              <a:t>### Now · Project 2 proposed work</a:t>
            </a:r>
          </a:p>
          <a:p>
            <a:r>
              <a:t>**Budget-aware generation.** Add a weekly cap and item total; filter and rank eligible candidates. Test exact-limit and impossible-budget cases.  </a:t>
            </a:r>
          </a:p>
          <a:p>
            <a:r>
              <a:t>**Single-meal swaps.** Replace one date/meal slot after server-side availability and allergen checks. Test that other slots stay intact.  </a:t>
            </a:r>
          </a:p>
          <a:p>
            <a:r>
              <a:t>**Visible order progress.** Persist transition timestamps; refresh a customer timeline. Test ownership, legal transitions, and terminal states.</a:t>
            </a:r>
          </a:p>
          <a:p>
            <a:r>
              <a:t>### Future · Project 3 candidate work</a:t>
            </a:r>
          </a:p>
          <a:p>
            <a:r>
              <a:t>**Reusable weekly templates.** Save and copy a week to new dates; recheck prices, hours, and stock. Require review before creating orders.  </a:t>
            </a:r>
          </a:p>
          <a:p>
            <a:r>
              <a:t>**Explainable suggestions.** Allow users to get suggestions based on previous preferences, available budget, and current availability.  </a:t>
            </a:r>
          </a:p>
          <a:p>
            <a:r>
              <a:t>**Restaurant demand preview.** Aggregate plans by date and meal. Separate tentative selections from orders; omit customer identities.</a:t>
            </a:r>
          </a:p>
          <a:p>
            <a:r>
              <a:t>## Evidence and system views</a:t>
            </a:r>
          </a:p>
          <a:p>
            <a:r>
              <a:t>**28 documented use cases · 28 Project 1a test modules · 172 test functions**  </a:t>
            </a:r>
          </a:p>
          <a:p>
            <a:r>
              <a:t>Counts checked in `use-cases.md` and `proj2/sef26tests/`. Source inventory only; execution, pass/fail totals, and coverage still need verification.</a:t>
            </a:r>
          </a:p>
          <a:p>
            <a:r>
              <a:t>**Insert real screenshot:** Customer meal calendar — show existing generated entries.  </a:t>
            </a:r>
          </a:p>
          <a:p>
            <a:r>
              <a:t>**Insert real screenshot:** Restaurant order dashboard — show fulfillment controls.  </a:t>
            </a:r>
          </a:p>
          <a:p>
            <a:r>
              <a:t>**Insert test-run capture:** Project 1a suite summary — include date and commit.</a:t>
            </a:r>
          </a:p>
          <a:p>
            <a:r>
              <a:t>## Proposed stack</a:t>
            </a:r>
          </a:p>
          <a:p>
            <a:r>
              <a:t>**Python / Flask** — Extend existing planning and order routes.  </a:t>
            </a:r>
          </a:p>
          <a:p>
            <a:r>
              <a:t>**SQLite** — Store budgets, meals, and transition history.  </a:t>
            </a:r>
          </a:p>
          <a:p>
            <a:r>
              <a:t>**HTML / CSS / JavaScript** — Calendar actions and timeline refresh.  </a:t>
            </a:r>
          </a:p>
          <a:p>
            <a:r>
              <a:t>**LLM + fallback** — Rank candidates; enforce constraints in code.  </a:t>
            </a:r>
          </a:p>
          <a:p>
            <a:r>
              <a:t>**pytest / Actions** — Check regressions as features evolve.</a:t>
            </a:r>
          </a:p>
          <a:p>
            <a:r>
              <a:t>## Project links</a:t>
            </a:r>
          </a:p>
          <a:p>
            <a:r>
              <a:t>**Repository:** https://github.com/rdpatel2/Weeklies  </a:t>
            </a:r>
          </a:p>
          <a:p>
            <a:r>
              <a:t>**Discussion forum:** [FORUM URL]  </a:t>
            </a:r>
          </a:p>
          <a:p>
            <a:r>
              <a:t>**Feature walkthrough:** [VIDEO URL] (2–5 minutes)  </a:t>
            </a:r>
          </a:p>
          <a:p>
            <a:r>
              <a:t>Print each complete URL underneath its matching QR code. Give CSC 510 tutors and lecturers access to the forum.</a:t>
            </a:r>
          </a:p>
          <a:p>
            <a:r>
              <a:t>## Finalization checklist</a:t>
            </a:r>
          </a:p>
          <a:p>
            <a:r>
              <a:t>Replace bracketed links and add three functioning QR codes, real screenshots, verified test-run evidence, and official technology icons. Confirm the group details, forum permissions, walkthrough duration, and one-page PDF export. Proposed features are not claims of completed implementation.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dpatel2/Weeklies" TargetMode="Externa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7315200" cy="38100"/>
          </a:xfrm>
          <a:prstGeom prst="rect">
            <a:avLst/>
          </a:prstGeom>
          <a:solidFill>
            <a:srgbClr val="A5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93700"/>
            <a:ext cx="6858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66666"/>
                </a:solidFill>
                <a:latin typeface="Arial"/>
              </a:defRPr>
            </a:pPr>
            <a:r>
              <a:t>CSC 510  /  PROJECT 1b  / 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2300"/>
            <a:ext cx="6731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22222"/>
                </a:solidFill>
                <a:latin typeface="Georgia"/>
              </a:defRPr>
            </a:pPr>
            <a:r>
              <a:t>Weeklies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193800"/>
            <a:ext cx="6731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22222"/>
                </a:solidFill>
                <a:latin typeface="Arial"/>
              </a:defRPr>
            </a:pPr>
            <a:r>
              <a:t>Your meals. Your schedule. Your budget.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536700"/>
            <a:ext cx="6731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555555"/>
                </a:solidFill>
                <a:latin typeface="Arial"/>
              </a:defRPr>
            </a:pPr>
            <a:r>
              <a:t>Group 11   |   Srikar Desemsetti, Rohan Patel, Alex Tanton, Kushal Upretti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752600"/>
            <a:ext cx="7315200" cy="762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841500"/>
            <a:ext cx="73152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22222"/>
                </a:solidFill>
                <a:latin typeface="Arial"/>
              </a:defRPr>
            </a:pPr>
            <a:r>
              <a:t>PROJECT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2032000"/>
            <a:ext cx="73152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30" b="0">
                <a:solidFill>
                  <a:srgbClr val="222222"/>
                </a:solidFill>
                <a:latin typeface="Arial"/>
              </a:defRPr>
            </a:pPr>
            <a:r>
              <a:t>Choosing meals every day takes time, and more often than not, a weekly plan can be costly and get old quickly. We propose extending Weeklies into a budget-aware meal planner that lets customers set a weekly limit, understand selections, and replace meals without rebuilding their calendar. Restaurant owners and kitchen staff gain clearer order updates and a view of upcoming demand: less daily planning, more spending control, and better coordination.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2679700"/>
            <a:ext cx="12700" cy="4191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7500" y="2679700"/>
            <a:ext cx="1651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222222"/>
                </a:solidFill>
                <a:latin typeface="Arial"/>
              </a:defRPr>
            </a:pPr>
            <a:r>
              <a:t>Customers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500" y="2844800"/>
            <a:ext cx="1651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670" b="0">
                <a:solidFill>
                  <a:srgbClr val="222222"/>
                </a:solidFill>
                <a:latin typeface="Arial"/>
              </a:defRPr>
            </a:pPr>
            <a:r>
              <a:t>Busy people who need to balance time, cost, and preferences.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82800" y="2679700"/>
            <a:ext cx="12700" cy="4191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71700" y="2679700"/>
            <a:ext cx="1651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222222"/>
                </a:solidFill>
                <a:latin typeface="Arial"/>
              </a:defRPr>
            </a:pPr>
            <a:r>
              <a:t>Restaurant owners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71700" y="2844800"/>
            <a:ext cx="1651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670" b="0">
                <a:solidFill>
                  <a:srgbClr val="222222"/>
                </a:solidFill>
                <a:latin typeface="Arial"/>
              </a:defRPr>
            </a:pPr>
            <a:r>
              <a:t>See upcoming demand and manage fulfillment.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7000" y="2679700"/>
            <a:ext cx="12700" cy="4191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5900" y="2679700"/>
            <a:ext cx="1651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222222"/>
                </a:solidFill>
                <a:latin typeface="Arial"/>
              </a:defRPr>
            </a:pPr>
            <a:r>
              <a:t>Kitchen staff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5900" y="2844800"/>
            <a:ext cx="1651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670" b="0">
                <a:solidFill>
                  <a:srgbClr val="222222"/>
                </a:solidFill>
                <a:latin typeface="Arial"/>
              </a:defRPr>
            </a:pPr>
            <a:r>
              <a:t>Follow an explicit preparation queue.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0" y="2679700"/>
            <a:ext cx="12700" cy="4191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80100" y="2679700"/>
            <a:ext cx="1651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222222"/>
                </a:solidFill>
                <a:latin typeface="Arial"/>
              </a:defRPr>
            </a:pPr>
            <a:r>
              <a:t>Maintainers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80100" y="2844800"/>
            <a:ext cx="1651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670" b="0">
                <a:solidFill>
                  <a:srgbClr val="222222"/>
                </a:solidFill>
                <a:latin typeface="Arial"/>
              </a:defRPr>
            </a:pPr>
            <a:r>
              <a:t>Build on reproducible use-case tests.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3238500"/>
            <a:ext cx="2362200" cy="12700"/>
          </a:xfrm>
          <a:prstGeom prst="rect">
            <a:avLst/>
          </a:prstGeom>
          <a:solidFill>
            <a:srgbClr val="A5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0200" y="3340100"/>
            <a:ext cx="2159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A52A2A"/>
                </a:solidFill>
                <a:latin typeface="Arial"/>
              </a:defRPr>
            </a:pPr>
            <a:r>
              <a:t>BUDGET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0200" y="3517900"/>
            <a:ext cx="215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60" b="1">
                <a:solidFill>
                  <a:srgbClr val="222222"/>
                </a:solidFill>
                <a:latin typeface="Arial"/>
              </a:defRPr>
            </a:pPr>
            <a:r>
              <a:t>Weekly spending limits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0200" y="3708400"/>
            <a:ext cx="2159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680" b="0">
                <a:solidFill>
                  <a:srgbClr val="222222"/>
                </a:solidFill>
                <a:latin typeface="Arial"/>
              </a:defRPr>
            </a:pPr>
            <a:r>
              <a:t>Compare meal prices across vendors and allocate a weekly budget for meals.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05100" y="3238500"/>
            <a:ext cx="2362200" cy="12700"/>
          </a:xfrm>
          <a:prstGeom prst="rect">
            <a:avLst/>
          </a:prstGeom>
          <a:solidFill>
            <a:srgbClr val="A5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06700" y="3340100"/>
            <a:ext cx="2159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A52A2A"/>
                </a:solidFill>
                <a:latin typeface="Arial"/>
              </a:defRPr>
            </a:pPr>
            <a:r>
              <a:t>MEAL SELECTION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6700" y="3517900"/>
            <a:ext cx="215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60" b="1">
                <a:solidFill>
                  <a:srgbClr val="222222"/>
                </a:solidFill>
                <a:latin typeface="Arial"/>
              </a:defRPr>
            </a:pPr>
            <a:r>
              <a:t>Individual meal replacement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06700" y="3708400"/>
            <a:ext cx="2159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680" b="0">
                <a:solidFill>
                  <a:srgbClr val="222222"/>
                </a:solidFill>
                <a:latin typeface="Arial"/>
              </a:defRPr>
            </a:pPr>
            <a:r>
              <a:t>Swap a single calendar entry for the week without disrupting future plans.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81600" y="3238500"/>
            <a:ext cx="2362200" cy="12700"/>
          </a:xfrm>
          <a:prstGeom prst="rect">
            <a:avLst/>
          </a:prstGeom>
          <a:solidFill>
            <a:srgbClr val="A5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83200" y="3340100"/>
            <a:ext cx="2159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A52A2A"/>
                </a:solidFill>
                <a:latin typeface="Arial"/>
              </a:defRPr>
            </a:pPr>
            <a:r>
              <a:t>ORDER STATUS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83200" y="3517900"/>
            <a:ext cx="215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60" b="1">
                <a:solidFill>
                  <a:srgbClr val="222222"/>
                </a:solidFill>
                <a:latin typeface="Arial"/>
              </a:defRPr>
            </a:pPr>
            <a:r>
              <a:t>Order progress timeline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83200" y="3708400"/>
            <a:ext cx="2159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680" b="0">
                <a:solidFill>
                  <a:srgbClr val="222222"/>
                </a:solidFill>
                <a:latin typeface="Arial"/>
              </a:defRPr>
            </a:pPr>
            <a:r>
              <a:t>See recorded order transitions on a timeline that refreshes as the restaurant progresses through fulfillment.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" y="4279900"/>
            <a:ext cx="4318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22222"/>
                </a:solidFill>
                <a:latin typeface="Arial"/>
              </a:defRPr>
            </a:pPr>
            <a:r>
              <a:t>DEVELOPMENT PLAN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89500" y="4305300"/>
            <a:ext cx="26543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222222"/>
                </a:solidFill>
                <a:latin typeface="Arial"/>
              </a:defRPr>
            </a:pPr>
            <a:r>
              <a:t>Proposed scope · goals paired with methods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4508500"/>
            <a:ext cx="2362200" cy="2921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8600" y="4508500"/>
            <a:ext cx="2362200" cy="12700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2900" y="4622800"/>
            <a:ext cx="2095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22222"/>
                </a:solidFill>
                <a:latin typeface="Arial"/>
              </a:defRPr>
            </a:pPr>
            <a:r>
              <a:t>BEFORE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2900" y="4813300"/>
            <a:ext cx="20955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80" b="0">
                <a:solidFill>
                  <a:srgbClr val="666666"/>
                </a:solidFill>
                <a:latin typeface="Arial"/>
              </a:defRPr>
            </a:pPr>
            <a:r>
              <a:t>PROJECT 1a · BASELINE 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2900" y="5016500"/>
            <a:ext cx="21336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222222"/>
                </a:solidFill>
                <a:latin typeface="Arial"/>
              </a:defRPr>
            </a:pPr>
            <a:r>
              <a:t>Map real user goals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2900" y="5168900"/>
            <a:ext cx="21336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635" b="0">
                <a:solidFill>
                  <a:srgbClr val="222222"/>
                </a:solidFill>
                <a:latin typeface="Arial"/>
              </a:defRPr>
            </a:pPr>
            <a:r>
              <a:t>28 documented use cases. Trace routes and record success and exception paths for accounts, planning, orders, reviews, and analytics.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2900" y="5524500"/>
            <a:ext cx="21336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222222"/>
                </a:solidFill>
                <a:latin typeface="Arial"/>
              </a:defRPr>
            </a:pPr>
            <a:r>
              <a:t>Establish regression evidence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2900" y="5676900"/>
            <a:ext cx="21336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635" b="0">
                <a:solidFill>
                  <a:srgbClr val="222222"/>
                </a:solidFill>
                <a:latin typeface="Arial"/>
              </a:defRPr>
            </a:pPr>
            <a:r>
              <a:t>172 test functions in 28 modules. Use Flask clients and temporary SQLite fixtures; attach a verified run summary.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" y="6032500"/>
            <a:ext cx="21336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222222"/>
                </a:solidFill>
                <a:latin typeface="Arial"/>
              </a:defRPr>
            </a:pPr>
            <a:r>
              <a:t>Understand planning limits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2900" y="6184900"/>
            <a:ext cx="21336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635" b="0">
                <a:solidFill>
                  <a:srgbClr val="222222"/>
                </a:solidFill>
                <a:latin typeface="Arial"/>
              </a:defRPr>
            </a:pPr>
            <a:r>
              <a:t>Trace UC06–07 and tests: generation checks hours, stock, and declared allergies while retaining existing slots.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05100" y="4508500"/>
            <a:ext cx="2362200" cy="2921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705100" y="4508500"/>
            <a:ext cx="2362200" cy="12700"/>
          </a:xfrm>
          <a:prstGeom prst="rect">
            <a:avLst/>
          </a:prstGeom>
          <a:solidFill>
            <a:srgbClr val="A5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819400" y="4622800"/>
            <a:ext cx="2095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22222"/>
                </a:solidFill>
                <a:latin typeface="Arial"/>
              </a:defRPr>
            </a:pPr>
            <a:r>
              <a:t>NOW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19400" y="4813300"/>
            <a:ext cx="20955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80" b="0">
                <a:solidFill>
                  <a:srgbClr val="666666"/>
                </a:solidFill>
                <a:latin typeface="Arial"/>
              </a:defRPr>
            </a:pPr>
            <a:r>
              <a:t>PROJECT 2 · THIS MONTH'S PROPOSAL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19400" y="5016500"/>
            <a:ext cx="21336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222222"/>
                </a:solidFill>
                <a:latin typeface="Arial"/>
              </a:defRPr>
            </a:pPr>
            <a:r>
              <a:t>Budget-aware generation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19400" y="5168900"/>
            <a:ext cx="21336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635" b="0">
                <a:solidFill>
                  <a:srgbClr val="222222"/>
                </a:solidFill>
                <a:latin typeface="Arial"/>
              </a:defRPr>
            </a:pPr>
            <a:r>
              <a:t>Add a weekly cap and item total; filter and rank eligible candidates. Test exact-limit and impossible-budget cases.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19400" y="5524500"/>
            <a:ext cx="21336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222222"/>
                </a:solidFill>
                <a:latin typeface="Arial"/>
              </a:defRPr>
            </a:pPr>
            <a:r>
              <a:t>Single-meal swaps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19400" y="5676900"/>
            <a:ext cx="21336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635" b="0">
                <a:solidFill>
                  <a:srgbClr val="222222"/>
                </a:solidFill>
                <a:latin typeface="Arial"/>
              </a:defRPr>
            </a:pPr>
            <a:r>
              <a:t>Replace one date/meal slot after server-side availability and allergen checks. Test that other slots stay intact.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19400" y="6032500"/>
            <a:ext cx="21336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222222"/>
                </a:solidFill>
                <a:latin typeface="Arial"/>
              </a:defRPr>
            </a:pPr>
            <a:r>
              <a:t>Visible order progress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19400" y="6184900"/>
            <a:ext cx="21336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635" b="0">
                <a:solidFill>
                  <a:srgbClr val="222222"/>
                </a:solidFill>
                <a:latin typeface="Arial"/>
              </a:defRPr>
            </a:pPr>
            <a:r>
              <a:t>Persist transition timestamps; refresh a customer timeline. Test ownership, legal transitions, and terminal states.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181600" y="4508500"/>
            <a:ext cx="2362200" cy="2921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181600" y="4508500"/>
            <a:ext cx="2362200" cy="12700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295900" y="4622800"/>
            <a:ext cx="2095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22222"/>
                </a:solidFill>
                <a:latin typeface="Arial"/>
              </a:defRPr>
            </a:pPr>
            <a:r>
              <a:t>FUTURE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95900" y="4813300"/>
            <a:ext cx="20955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80" b="0">
                <a:solidFill>
                  <a:srgbClr val="666666"/>
                </a:solidFill>
                <a:latin typeface="Arial"/>
              </a:defRPr>
            </a:pPr>
            <a:r>
              <a:t>PROJECT 3 · NEXT MONTH'S OPTIONS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95900" y="5016500"/>
            <a:ext cx="21336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222222"/>
                </a:solidFill>
                <a:latin typeface="Arial"/>
              </a:defRPr>
            </a:pPr>
            <a:r>
              <a:t>Reusable weekly templates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95900" y="5168900"/>
            <a:ext cx="21336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635" b="0">
                <a:solidFill>
                  <a:srgbClr val="222222"/>
                </a:solidFill>
                <a:latin typeface="Arial"/>
              </a:defRPr>
            </a:pPr>
            <a:r>
              <a:t>Save and copy a week to new dates; recheck prices, hours, and stock. Require review before creating orders.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95900" y="5524500"/>
            <a:ext cx="21336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222222"/>
                </a:solidFill>
                <a:latin typeface="Arial"/>
              </a:defRPr>
            </a:pPr>
            <a:r>
              <a:t>Explainable suggestions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95900" y="5676900"/>
            <a:ext cx="21336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635" b="0">
                <a:solidFill>
                  <a:srgbClr val="222222"/>
                </a:solidFill>
                <a:latin typeface="Arial"/>
              </a:defRPr>
            </a:pPr>
            <a:r>
              <a:t>Build factual reasons from preference, price, and availability checks. Handle missing data and model fallback.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95900" y="6032500"/>
            <a:ext cx="21336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222222"/>
                </a:solidFill>
                <a:latin typeface="Arial"/>
              </a:defRPr>
            </a:pPr>
            <a:r>
              <a:t>Restaurant demand preview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95900" y="6184900"/>
            <a:ext cx="21336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635" b="0">
                <a:solidFill>
                  <a:srgbClr val="222222"/>
                </a:solidFill>
                <a:latin typeface="Arial"/>
              </a:defRPr>
            </a:pPr>
            <a:r>
              <a:t>Aggregate plans by date and meal. Separate tentative selections from orders; omit customer identities.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28600" y="6756400"/>
            <a:ext cx="7315200" cy="5334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92100" y="6832600"/>
            <a:ext cx="9144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22222"/>
                </a:solidFill>
                <a:latin typeface="Arial"/>
              </a:defRPr>
            </a:pPr>
            <a:r>
              <a:t>28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92100" y="7099300"/>
            <a:ext cx="914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222222"/>
                </a:solidFill>
                <a:latin typeface="Arial"/>
              </a:defRPr>
            </a:pPr>
            <a:r>
              <a:t>documented use cases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31900" y="6832600"/>
            <a:ext cx="9144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22222"/>
                </a:solidFill>
                <a:latin typeface="Arial"/>
              </a:defRPr>
            </a:pPr>
            <a:r>
              <a:t>28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31900" y="7099300"/>
            <a:ext cx="914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222222"/>
                </a:solidFill>
                <a:latin typeface="Arial"/>
              </a:defRPr>
            </a:pPr>
            <a:r>
              <a:t>Project 1a test modules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71700" y="6832600"/>
            <a:ext cx="9144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22222"/>
                </a:solidFill>
                <a:latin typeface="Arial"/>
              </a:defRPr>
            </a:pPr>
            <a:r>
              <a:t>172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71700" y="7099300"/>
            <a:ext cx="914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222222"/>
                </a:solidFill>
                <a:latin typeface="Arial"/>
              </a:defRPr>
            </a:pPr>
            <a:r>
              <a:t>test functions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302000" y="6883400"/>
            <a:ext cx="40767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222222"/>
                </a:solidFill>
                <a:latin typeface="Arial"/>
              </a:defRPr>
            </a:pPr>
            <a:r>
              <a:t>Counts checked in use-cases.md and proj2/sef26tests/.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222222"/>
                </a:solidFill>
                <a:latin typeface="Arial"/>
              </a:defRPr>
            </a:pPr>
            <a:r>
              <a:t>Source inventory only. Execution, pass/fail totals, and coverage still need verification.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28600" y="7429500"/>
            <a:ext cx="2362200" cy="635000"/>
          </a:xfrm>
          <a:prstGeom prst="rect">
            <a:avLst/>
          </a:prstGeom>
          <a:solidFill>
            <a:srgbClr val="FAFAFA"/>
          </a:solidFill>
          <a:ln w="762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92100" y="7569200"/>
            <a:ext cx="2235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640" b="1">
                <a:solidFill>
                  <a:srgbClr val="222222"/>
                </a:solidFill>
                <a:latin typeface="Arial"/>
              </a:defRPr>
            </a:pPr>
            <a:r>
              <a:t>INSERT REAL SCREENSHOT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92100" y="7721600"/>
            <a:ext cx="2235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222222"/>
                </a:solidFill>
                <a:latin typeface="Arial"/>
              </a:defRPr>
            </a:pPr>
            <a:r>
              <a:t>Customer meal calendar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92100" y="7874000"/>
            <a:ext cx="22352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666666"/>
                </a:solidFill>
                <a:latin typeface="Arial"/>
              </a:defRPr>
            </a:pPr>
            <a:r>
              <a:t>Show existing generated entries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28600" y="8128000"/>
            <a:ext cx="2362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60" b="0">
                <a:solidFill>
                  <a:srgbClr val="222222"/>
                </a:solidFill>
                <a:latin typeface="Arial"/>
              </a:defRPr>
            </a:pPr>
            <a:r>
              <a:t>Existing system · your week at a glance.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05100" y="7429500"/>
            <a:ext cx="2362200" cy="635000"/>
          </a:xfrm>
          <a:prstGeom prst="rect">
            <a:avLst/>
          </a:prstGeom>
          <a:solidFill>
            <a:srgbClr val="FAFAFA"/>
          </a:solidFill>
          <a:ln w="762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768600" y="7569200"/>
            <a:ext cx="2235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640" b="1">
                <a:solidFill>
                  <a:srgbClr val="222222"/>
                </a:solidFill>
                <a:latin typeface="Arial"/>
              </a:defRPr>
            </a:pPr>
            <a:r>
              <a:t>INSERT REAL SCREENSHOT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68600" y="7721600"/>
            <a:ext cx="2235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222222"/>
                </a:solidFill>
                <a:latin typeface="Arial"/>
              </a:defRPr>
            </a:pPr>
            <a:r>
              <a:t>Restaurant order dashboard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68600" y="7874000"/>
            <a:ext cx="22352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666666"/>
                </a:solidFill>
                <a:latin typeface="Arial"/>
              </a:defRPr>
            </a:pPr>
            <a:r>
              <a:t>Show fulfillment controls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05100" y="8128000"/>
            <a:ext cx="2362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60" b="0">
                <a:solidFill>
                  <a:srgbClr val="222222"/>
                </a:solidFill>
                <a:latin typeface="Arial"/>
              </a:defRPr>
            </a:pPr>
            <a:r>
              <a:t>Existing system · manage the order lifecycle.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181600" y="7429500"/>
            <a:ext cx="2362200" cy="635000"/>
          </a:xfrm>
          <a:prstGeom prst="rect">
            <a:avLst/>
          </a:prstGeom>
          <a:solidFill>
            <a:srgbClr val="FAFAFA"/>
          </a:solidFill>
          <a:ln w="762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245100" y="7569200"/>
            <a:ext cx="2235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640" b="1">
                <a:solidFill>
                  <a:srgbClr val="222222"/>
                </a:solidFill>
                <a:latin typeface="Arial"/>
              </a:defRPr>
            </a:pPr>
            <a:r>
              <a:t>INSERT TEST-RUN CAPTURE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245100" y="7721600"/>
            <a:ext cx="2235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222222"/>
                </a:solidFill>
                <a:latin typeface="Arial"/>
              </a:defRPr>
            </a:pPr>
            <a:r>
              <a:t>Project 1a suite summary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245100" y="7874000"/>
            <a:ext cx="22352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666666"/>
                </a:solidFill>
                <a:latin typeface="Arial"/>
              </a:defRPr>
            </a:pPr>
            <a:r>
              <a:t>Include date and commit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181600" y="8128000"/>
            <a:ext cx="2362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60" b="0">
                <a:solidFill>
                  <a:srgbClr val="222222"/>
                </a:solidFill>
                <a:latin typeface="Arial"/>
              </a:defRPr>
            </a:pPr>
            <a:r>
              <a:t>Evidence · report actual results before submission.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28600" y="8407400"/>
            <a:ext cx="203200" cy="2032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28600" y="8445500"/>
            <a:ext cx="20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222222"/>
                </a:solidFill>
                <a:latin typeface="Arial"/>
              </a:defRPr>
            </a:pPr>
            <a:r>
              <a:t>Py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2600" y="8445500"/>
            <a:ext cx="1193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90" b="1">
                <a:solidFill>
                  <a:srgbClr val="222222"/>
                </a:solidFill>
                <a:latin typeface="Arial"/>
              </a:defRPr>
            </a:pPr>
            <a:r>
              <a:t>Python / Flask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28600" y="8674100"/>
            <a:ext cx="13843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80" b="0">
                <a:solidFill>
                  <a:srgbClr val="222222"/>
                </a:solidFill>
                <a:latin typeface="Arial"/>
              </a:defRPr>
            </a:pPr>
            <a:r>
              <a:t>Extend existing planning and order routes.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714500" y="8407400"/>
            <a:ext cx="203200" cy="2032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714500" y="8445500"/>
            <a:ext cx="20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222222"/>
                </a:solidFill>
                <a:latin typeface="Arial"/>
              </a:defRPr>
            </a:pPr>
            <a:r>
              <a:t>DB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968500" y="8445500"/>
            <a:ext cx="1193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90" b="1">
                <a:solidFill>
                  <a:srgbClr val="222222"/>
                </a:solidFill>
                <a:latin typeface="Arial"/>
              </a:defRPr>
            </a:pPr>
            <a:r>
              <a:t>SQLite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714500" y="8674100"/>
            <a:ext cx="13843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80" b="0">
                <a:solidFill>
                  <a:srgbClr val="222222"/>
                </a:solidFill>
                <a:latin typeface="Arial"/>
              </a:defRPr>
            </a:pPr>
            <a:r>
              <a:t>Store budgets, meals, and transition history.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200400" y="8407400"/>
            <a:ext cx="203200" cy="2032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200400" y="8445500"/>
            <a:ext cx="20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222222"/>
                </a:solidFill>
                <a:latin typeface="Arial"/>
              </a:defRPr>
            </a:pPr>
            <a:r>
              <a:t>&lt;/&gt;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454400" y="8445500"/>
            <a:ext cx="1193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90" b="1">
                <a:solidFill>
                  <a:srgbClr val="222222"/>
                </a:solidFill>
                <a:latin typeface="Arial"/>
              </a:defRPr>
            </a:pPr>
            <a:r>
              <a:t>HTML / CSS / JS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200400" y="8674100"/>
            <a:ext cx="13843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80" b="0">
                <a:solidFill>
                  <a:srgbClr val="222222"/>
                </a:solidFill>
                <a:latin typeface="Arial"/>
              </a:defRPr>
            </a:pPr>
            <a:r>
              <a:t>Calendar actions and timeline refresh.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686300" y="8407400"/>
            <a:ext cx="203200" cy="2032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686300" y="8445500"/>
            <a:ext cx="20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222222"/>
                </a:solidFill>
                <a:latin typeface="Arial"/>
              </a:defRPr>
            </a:pPr>
            <a:r>
              <a:t>AI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940300" y="8445500"/>
            <a:ext cx="1193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90" b="1">
                <a:solidFill>
                  <a:srgbClr val="222222"/>
                </a:solidFill>
                <a:latin typeface="Arial"/>
              </a:defRPr>
            </a:pPr>
            <a:r>
              <a:t>LLM + fallback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686300" y="8674100"/>
            <a:ext cx="13843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80" b="0">
                <a:solidFill>
                  <a:srgbClr val="222222"/>
                </a:solidFill>
                <a:latin typeface="Arial"/>
              </a:defRPr>
            </a:pPr>
            <a:r>
              <a:t>Rank candidates; enforce constraints in code.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72200" y="8407400"/>
            <a:ext cx="203200" cy="2032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72200" y="8445500"/>
            <a:ext cx="20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222222"/>
                </a:solidFill>
                <a:latin typeface="Arial"/>
              </a:defRPr>
            </a:pPr>
            <a:r>
              <a:t>CI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426200" y="8445500"/>
            <a:ext cx="1193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90" b="1">
                <a:solidFill>
                  <a:srgbClr val="222222"/>
                </a:solidFill>
                <a:latin typeface="Arial"/>
              </a:defRPr>
            </a:pPr>
            <a:r>
              <a:t>pytest / Actions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172200" y="8674100"/>
            <a:ext cx="13843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80" b="0">
                <a:solidFill>
                  <a:srgbClr val="222222"/>
                </a:solidFill>
                <a:latin typeface="Arial"/>
              </a:defRPr>
            </a:pPr>
            <a:r>
              <a:t>Check regressions as features evolve.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28600" y="9042400"/>
            <a:ext cx="2362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650" b="1">
                <a:solidFill>
                  <a:srgbClr val="222222"/>
                </a:solidFill>
                <a:latin typeface="Arial"/>
              </a:defRPr>
            </a:pPr>
            <a:r>
              <a:t>REPOSITORY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168400" y="9220200"/>
            <a:ext cx="482600" cy="482600"/>
          </a:xfrm>
          <a:prstGeom prst="rect">
            <a:avLst/>
          </a:prstGeom>
          <a:noFill/>
          <a:ln w="762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168400" y="9347200"/>
            <a:ext cx="4826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666666"/>
                </a:solidFill>
                <a:latin typeface="Arial"/>
              </a:defRPr>
            </a:pPr>
            <a:r>
              <a:t>INSERT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666666"/>
                </a:solidFill>
                <a:latin typeface="Arial"/>
              </a:defRPr>
            </a:pPr>
            <a:r>
              <a:t>REPO QR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28600" y="9753600"/>
            <a:ext cx="23622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222222"/>
                </a:solidFill>
                <a:latin typeface="Arial"/>
              </a:defRPr>
            </a:pPr>
            <a:r>
              <a:rPr>
                <a:hlinkClick r:id="rId2"/>
              </a:rPr>
              <a:t>https://github.com/rdpatel2/Weeklies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705100" y="9042400"/>
            <a:ext cx="2362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650" b="1">
                <a:solidFill>
                  <a:srgbClr val="222222"/>
                </a:solidFill>
                <a:latin typeface="Arial"/>
              </a:defRPr>
            </a:pPr>
            <a:r>
              <a:t>DISCUSSION FORUM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644900" y="9220200"/>
            <a:ext cx="482600" cy="482600"/>
          </a:xfrm>
          <a:prstGeom prst="rect">
            <a:avLst/>
          </a:prstGeom>
          <a:noFill/>
          <a:ln w="762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644900" y="9347200"/>
            <a:ext cx="4826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666666"/>
                </a:solidFill>
                <a:latin typeface="Arial"/>
              </a:defRPr>
            </a:pPr>
            <a:r>
              <a:t>INSERT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666666"/>
                </a:solidFill>
                <a:latin typeface="Arial"/>
              </a:defRPr>
            </a:pPr>
            <a:r>
              <a:t>FORUM QR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705100" y="9753600"/>
            <a:ext cx="23622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222222"/>
                </a:solidFill>
                <a:latin typeface="Arial"/>
              </a:defRPr>
            </a:pPr>
            <a:r>
              <a:t>[FORUM URL]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181600" y="9042400"/>
            <a:ext cx="2362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650" b="1">
                <a:solidFill>
                  <a:srgbClr val="222222"/>
                </a:solidFill>
                <a:latin typeface="Arial"/>
              </a:defRPr>
            </a:pPr>
            <a:r>
              <a:t>FEATURE WALKTHROUGH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121400" y="9220200"/>
            <a:ext cx="482600" cy="482600"/>
          </a:xfrm>
          <a:prstGeom prst="rect">
            <a:avLst/>
          </a:prstGeom>
          <a:noFill/>
          <a:ln w="762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121400" y="9347200"/>
            <a:ext cx="4826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666666"/>
                </a:solidFill>
                <a:latin typeface="Arial"/>
              </a:defRPr>
            </a:pPr>
            <a:r>
              <a:t>INSERT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666666"/>
                </a:solidFill>
                <a:latin typeface="Arial"/>
              </a:defRPr>
            </a:pPr>
            <a:r>
              <a:t>VIDEO QR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181600" y="9753600"/>
            <a:ext cx="23622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222222"/>
                </a:solidFill>
                <a:latin typeface="Arial"/>
              </a:defRPr>
            </a:pPr>
            <a:r>
              <a:t>[VIDEO URL]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28600" y="9931400"/>
            <a:ext cx="7315200" cy="88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" b="0">
                <a:solidFill>
                  <a:srgbClr val="777777"/>
                </a:solidFill>
                <a:latin typeface="Arial"/>
              </a:defRPr>
            </a:pPr>
            <a:r>
              <a:t>DRAFT · Replace team details, screenshots, test evidence, icon badges, and QR/link placeholders before submission.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Weeklies — Editable poster draft</dc:title>
  <dc:subject>Project 1b proposed next version; letter-size portrait poster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